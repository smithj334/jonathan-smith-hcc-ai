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4.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8"/>
  </p:notesMasterIdLst>
  <p:sldIdLst>
    <p:sldId id="256" r:id="rId3"/>
    <p:sldId id="257" r:id="rId4"/>
    <p:sldId id="268" r:id="rId5"/>
    <p:sldId id="258" r:id="rId6"/>
    <p:sldId id="269" r:id="rId7"/>
    <p:sldId id="259" r:id="rId8"/>
    <p:sldId id="270" r:id="rId9"/>
    <p:sldId id="260" r:id="rId10"/>
    <p:sldId id="271" r:id="rId11"/>
    <p:sldId id="261" r:id="rId12"/>
    <p:sldId id="272" r:id="rId13"/>
    <p:sldId id="262" r:id="rId14"/>
    <p:sldId id="273" r:id="rId15"/>
    <p:sldId id="263" r:id="rId16"/>
    <p:sldId id="274" r:id="rId17"/>
    <p:sldId id="264" r:id="rId18"/>
    <p:sldId id="275" r:id="rId19"/>
    <p:sldId id="265" r:id="rId20"/>
    <p:sldId id="276" r:id="rId21"/>
    <p:sldId id="266" r:id="rId22"/>
    <p:sldId id="279" r:id="rId23"/>
    <p:sldId id="280" r:id="rId24"/>
    <p:sldId id="277" r:id="rId25"/>
    <p:sldId id="278" r:id="rId26"/>
    <p:sldId id="281" r:id="rId2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 Target="slides/slide1.xml"/><Relationship Id="rId29" Type="http://schemas.openxmlformats.org/officeDocument/2006/relationships/presProps" Target="presProps.xml"/><Relationship Id="rId28" Type="http://schemas.openxmlformats.org/officeDocument/2006/relationships/notesMaster" Target="notesMasters/notesMaster1.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tretch>
            <a:fillRect/>
          </a:stretch>
        </p:blipFill>
        <p:spPr>
          <a:xfrm>
            <a:off x="-9525" y="-3175"/>
            <a:ext cx="9153525" cy="6861175"/>
          </a:xfrm>
          <a:prstGeom prst="rect">
            <a:avLst/>
          </a:prstGeom>
          <a:noFill/>
          <a:ln w="9525">
            <a:noFill/>
          </a:ln>
        </p:spPr>
      </p:pic>
      <p:sp>
        <p:nvSpPr>
          <p:cNvPr id="2051" name="Rectangle 3"/>
          <p:cNvSpPr>
            <a:spLocks noGrp="1" noChangeArrowheads="1"/>
          </p:cNvSpPr>
          <p:nvPr>
            <p:ph type="ctrTitle"/>
          </p:nvPr>
        </p:nvSpPr>
        <p:spPr>
          <a:xfrm>
            <a:off x="1547813" y="1125538"/>
            <a:ext cx="6908800" cy="1082675"/>
          </a:xfrm>
        </p:spPr>
        <p:txBody>
          <a:bodyPr/>
          <a:lstStyle>
            <a:lvl1pPr algn="r">
              <a:defRPr/>
            </a:lvl1pPr>
          </a:lstStyle>
          <a:p>
            <a:pPr lvl="0"/>
            <a:r>
              <a:rPr lang="en-US" altLang="zh-CN" noProof="0" smtClean="0"/>
              <a:t>Click to edit Master title style</a:t>
            </a:r>
            <a:endParaRPr lang="en-US" altLang="zh-CN" noProof="0" smtClean="0"/>
          </a:p>
        </p:txBody>
      </p:sp>
      <p:sp>
        <p:nvSpPr>
          <p:cNvPr id="2052" name="Rectangle 4"/>
          <p:cNvSpPr>
            <a:spLocks noGrp="1" noChangeArrowheads="1"/>
          </p:cNvSpPr>
          <p:nvPr>
            <p:ph type="subTitle" idx="1"/>
          </p:nvPr>
        </p:nvSpPr>
        <p:spPr>
          <a:xfrm>
            <a:off x="1547813" y="2351088"/>
            <a:ext cx="6913562" cy="1752600"/>
          </a:xfrm>
        </p:spPr>
        <p:txBody>
          <a:bodyPr/>
          <a:lstStyle>
            <a:lvl1pPr marL="0" indent="0" algn="r">
              <a:buFontTx/>
              <a:buNone/>
              <a:defRPr>
                <a:solidFill>
                  <a:schemeClr val="bg1"/>
                </a:solidFill>
              </a:defRPr>
            </a:lvl1pPr>
          </a:lstStyle>
          <a:p>
            <a:pPr lvl="0"/>
            <a:r>
              <a:rPr lang="en-US" altLang="zh-CN" noProof="0" smtClean="0"/>
              <a:t>Click to edit Master subtitle style</a:t>
            </a:r>
            <a:endParaRPr lang="en-US" altLang="zh-CN" noProof="0" smtClean="0"/>
          </a:p>
        </p:txBody>
      </p:sp>
      <p:sp>
        <p:nvSpPr>
          <p:cNvPr id="9" name="Rectangle 5"/>
          <p:cNvSpPr>
            <a:spLocks noGrp="1" noChangeArrowheads="1"/>
          </p:cNvSpPr>
          <p:nvPr>
            <p:ph type="dt" sz="half" idx="2"/>
          </p:nvPr>
        </p:nvSpPr>
        <p:spPr bwMode="auto">
          <a:xfrm>
            <a:off x="457200" y="6245225"/>
            <a:ext cx="21336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5BCAD085-E8A6-8845-BD4E-CB4CCA059FC4}" type="datetimeFigureOut">
              <a:rPr lang="en-US" smtClean="0"/>
            </a:fld>
            <a:endParaRPr lang="en-US"/>
          </a:p>
        </p:txBody>
      </p:sp>
      <p:sp>
        <p:nvSpPr>
          <p:cNvPr id="10" name="Rectangle 6"/>
          <p:cNvSpPr>
            <a:spLocks noGrp="1" noChangeArrowheads="1"/>
          </p:cNvSpPr>
          <p:nvPr>
            <p:ph type="ftr" sz="quarter" idx="3"/>
          </p:nvPr>
        </p:nvSpPr>
        <p:spPr bwMode="auto">
          <a:xfrm>
            <a:off x="3124200" y="6245225"/>
            <a:ext cx="28956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r>
              <a:rPr lang="en-US"/>
              <a:t>Jonathan Smith A04 ITAI 2376 Deep Learning for an 11 year old</a:t>
            </a:r>
            <a:endParaRPr lang="en-US"/>
          </a:p>
        </p:txBody>
      </p:sp>
      <p:sp>
        <p:nvSpPr>
          <p:cNvPr id="11" name="Rectangle 7"/>
          <p:cNvSpPr>
            <a:spLocks noGrp="1" noChangeArrowheads="1"/>
          </p:cNvSpPr>
          <p:nvPr>
            <p:ph type="sldNum" sz="quarter" idx="4"/>
          </p:nvPr>
        </p:nvSpPr>
        <p:spPr bwMode="auto">
          <a:xfrm>
            <a:off x="6553200" y="6245225"/>
            <a:ext cx="21336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C1FF6DA9-008F-8B48-92A6-B652298478BF}" type="slidenum">
              <a:rPr lang="en-US" smtClean="0"/>
            </a:fld>
            <a:endParaRPr lang="en-US"/>
          </a:p>
        </p:txBody>
      </p:sp>
    </p:spTree>
  </p:cSld>
  <p:clrMapOvr>
    <a:masterClrMapping/>
  </p:clrMapOvr>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p>
            <a:r>
              <a:rPr lang="en-US"/>
              <a:t>Jonathan Smith A04 ITAI 2376 Deep Learning for an 11 year old</a:t>
            </a:r>
            <a:endParaRPr lang="en-US"/>
          </a:p>
        </p:txBody>
      </p:sp>
      <p:sp>
        <p:nvSpPr>
          <p:cNvPr id="6" name="Slide Number Placeholder 5"/>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p>
            <a:r>
              <a:rPr lang="en-US"/>
              <a:t>Jonathan Smith A04 ITAI 2376 Deep Learning for an 11 year old</a:t>
            </a:r>
            <a:endParaRPr lang="en-US"/>
          </a:p>
        </p:txBody>
      </p:sp>
      <p:sp>
        <p:nvSpPr>
          <p:cNvPr id="6" name="Slide Number Placeholder 5"/>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174750"/>
            <a:ext cx="40386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174750"/>
            <a:ext cx="40386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p>
            <a:r>
              <a:rPr lang="en-US"/>
              <a:t>Jonathan Smith A04 ITAI 2376 Deep Learning for an 11 year old</a:t>
            </a:r>
            <a:endParaRPr lang="en-US"/>
          </a:p>
        </p:txBody>
      </p:sp>
      <p:sp>
        <p:nvSpPr>
          <p:cNvPr id="7" name="Slide Number Placeholder 6"/>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630238" y="2505075"/>
            <a:ext cx="386873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29150" y="2505075"/>
            <a:ext cx="38877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p>
            <a:r>
              <a:rPr lang="en-US"/>
              <a:t>Jonathan Smith A04 ITAI 2376 Deep Learning for an 11 year old</a:t>
            </a:r>
            <a:endParaRPr lang="en-US"/>
          </a:p>
        </p:txBody>
      </p:sp>
      <p:sp>
        <p:nvSpPr>
          <p:cNvPr id="9" name="Slide Number Placeholder 8"/>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p>
            <a:r>
              <a:rPr lang="en-US"/>
              <a:t>Jonathan Smith A04 ITAI 2376 Deep Learning for an 11 year old</a:t>
            </a:r>
            <a:endParaRPr lang="en-US"/>
          </a:p>
        </p:txBody>
      </p:sp>
      <p:sp>
        <p:nvSpPr>
          <p:cNvPr id="5" name="Slide Number Placeholder 4"/>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p>
            <a:r>
              <a:rPr lang="en-US"/>
              <a:t>Jonathan Smith A04 ITAI 2376 Deep Learning for an 11 year old</a:t>
            </a:r>
            <a:endParaRPr lang="en-US"/>
          </a:p>
        </p:txBody>
      </p:sp>
      <p:sp>
        <p:nvSpPr>
          <p:cNvPr id="4" name="Slide Number Placeholder 3"/>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p>
            <a:r>
              <a:rPr lang="en-US"/>
              <a:t>Jonathan Smith A04 ITAI 2376 Deep Learning for an 11 year old</a:t>
            </a:r>
            <a:endParaRPr lang="en-US"/>
          </a:p>
        </p:txBody>
      </p:sp>
      <p:sp>
        <p:nvSpPr>
          <p:cNvPr id="7" name="Slide Number Placeholder 6"/>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p>
            <a:r>
              <a:rPr lang="en-US"/>
              <a:t>Jonathan Smith A04 ITAI 2376 Deep Learning for an 11 year old</a:t>
            </a:r>
            <a:endParaRPr lang="en-US"/>
          </a:p>
        </p:txBody>
      </p:sp>
      <p:sp>
        <p:nvSpPr>
          <p:cNvPr id="7" name="Slide Number Placeholder 6"/>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p>
            <a:r>
              <a:rPr lang="en-US"/>
              <a:t>Jonathan Smith A04 ITAI 2376 Deep Learning for an 11 year old</a:t>
            </a:r>
            <a:endParaRPr lang="en-US"/>
          </a:p>
        </p:txBody>
      </p:sp>
      <p:sp>
        <p:nvSpPr>
          <p:cNvPr id="6" name="Slide Number Placeholder 5"/>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90500"/>
            <a:ext cx="2057400" cy="59372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90500"/>
            <a:ext cx="6019800" cy="593725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p>
            <a:r>
              <a:rPr lang="en-US"/>
              <a:t>Jonathan Smith A04 ITAI 2376 Deep Learning for an 11 year old</a:t>
            </a:r>
            <a:endParaRPr lang="en-US"/>
          </a:p>
        </p:txBody>
      </p:sp>
      <p:sp>
        <p:nvSpPr>
          <p:cNvPr id="6" name="Slide Number Placeholder 5"/>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6"/>
          <p:cNvPicPr>
            <a:picLocks noChangeAspect="1"/>
          </p:cNvPicPr>
          <p:nvPr/>
        </p:nvPicPr>
        <p:blipFill>
          <a:blip r:embed="rId12"/>
          <a:stretch>
            <a:fillRect/>
          </a:stretch>
        </p:blipFill>
        <p:spPr>
          <a:xfrm>
            <a:off x="0" y="0"/>
            <a:ext cx="9148763" cy="6861175"/>
          </a:xfrm>
          <a:prstGeom prst="rect">
            <a:avLst/>
          </a:prstGeom>
          <a:noFill/>
          <a:ln w="9525">
            <a:noFill/>
          </a:ln>
        </p:spPr>
      </p:pic>
      <p:sp>
        <p:nvSpPr>
          <p:cNvPr id="1027" name="Rectangle 3"/>
          <p:cNvSpPr>
            <a:spLocks noGrp="1"/>
          </p:cNvSpPr>
          <p:nvPr>
            <p:ph type="title"/>
          </p:nvPr>
        </p:nvSpPr>
        <p:spPr>
          <a:xfrm>
            <a:off x="457200" y="190500"/>
            <a:ext cx="8229600" cy="582613"/>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8" name="Rectangle 4"/>
          <p:cNvSpPr>
            <a:spLocks noGrp="1"/>
          </p:cNvSpPr>
          <p:nvPr>
            <p:ph type="body" idx="1"/>
          </p:nvPr>
        </p:nvSpPr>
        <p:spPr>
          <a:xfrm>
            <a:off x="457200" y="1174750"/>
            <a:ext cx="8229600" cy="49530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9" name="Rectangle 5"/>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5BCAD085-E8A6-8845-BD4E-CB4CCA059FC4}" type="datetimeFigureOut">
              <a:rPr lang="en-US" smtClean="0"/>
            </a:fld>
            <a:endParaRPr lang="en-US"/>
          </a:p>
        </p:txBody>
      </p:sp>
      <p:sp>
        <p:nvSpPr>
          <p:cNvPr id="1030" name="Rectangle 6"/>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r>
              <a:rPr lang="en-US"/>
              <a:t>Jonathan Smith A04 ITAI 2376 Deep Learning for an 11 year old</a:t>
            </a:r>
            <a:endParaRPr lang="en-US"/>
          </a:p>
        </p:txBody>
      </p:sp>
      <p:sp>
        <p:nvSpPr>
          <p:cNvPr id="1031" name="Rectangle 7"/>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rtl="0" fontAlgn="base">
        <a:spcBef>
          <a:spcPct val="0"/>
        </a:spcBef>
        <a:spcAft>
          <a:spcPct val="0"/>
        </a:spcAft>
        <a:defRPr sz="3600" kern="1200">
          <a:solidFill>
            <a:schemeClr val="bg1"/>
          </a:solidFill>
          <a:latin typeface="+mj-lt"/>
          <a:ea typeface="+mj-ea"/>
          <a:cs typeface="+mj-cs"/>
        </a:defRPr>
      </a:lvl1pPr>
      <a:lvl2pPr algn="l" rtl="0" fontAlgn="base">
        <a:spcBef>
          <a:spcPct val="0"/>
        </a:spcBef>
        <a:spcAft>
          <a:spcPct val="0"/>
        </a:spcAft>
        <a:defRPr sz="3600">
          <a:solidFill>
            <a:schemeClr val="bg1"/>
          </a:solidFill>
          <a:latin typeface="Arial" panose="020B0604020202090204" pitchFamily="34" charset="0"/>
          <a:ea typeface="SimSun" pitchFamily="2" charset="-122"/>
        </a:defRPr>
      </a:lvl2pPr>
      <a:lvl3pPr algn="l" rtl="0" fontAlgn="base">
        <a:spcBef>
          <a:spcPct val="0"/>
        </a:spcBef>
        <a:spcAft>
          <a:spcPct val="0"/>
        </a:spcAft>
        <a:defRPr sz="3600">
          <a:solidFill>
            <a:schemeClr val="bg1"/>
          </a:solidFill>
          <a:latin typeface="Arial" panose="020B0604020202090204" pitchFamily="34" charset="0"/>
          <a:ea typeface="SimSun" pitchFamily="2" charset="-122"/>
        </a:defRPr>
      </a:lvl3pPr>
      <a:lvl4pPr algn="l" rtl="0" fontAlgn="base">
        <a:spcBef>
          <a:spcPct val="0"/>
        </a:spcBef>
        <a:spcAft>
          <a:spcPct val="0"/>
        </a:spcAft>
        <a:defRPr sz="3600">
          <a:solidFill>
            <a:schemeClr val="bg1"/>
          </a:solidFill>
          <a:latin typeface="Arial" panose="020B0604020202090204" pitchFamily="34" charset="0"/>
          <a:ea typeface="SimSun" pitchFamily="2" charset="-122"/>
        </a:defRPr>
      </a:lvl4pPr>
      <a:lvl5pPr algn="l" rtl="0" fontAlgn="base">
        <a:spcBef>
          <a:spcPct val="0"/>
        </a:spcBef>
        <a:spcAft>
          <a:spcPct val="0"/>
        </a:spcAft>
        <a:defRPr sz="3600">
          <a:solidFill>
            <a:schemeClr val="bg1"/>
          </a:solidFill>
          <a:latin typeface="Arial" panose="020B0604020202090204" pitchFamily="34" charset="0"/>
          <a:ea typeface="SimSun" pitchFamily="2" charset="-122"/>
        </a:defRPr>
      </a:lvl5pPr>
      <a:lvl6pPr marL="457200" algn="l" rtl="0" fontAlgn="base">
        <a:spcBef>
          <a:spcPct val="0"/>
        </a:spcBef>
        <a:spcAft>
          <a:spcPct val="0"/>
        </a:spcAft>
        <a:defRPr sz="3600">
          <a:solidFill>
            <a:schemeClr val="bg1"/>
          </a:solidFill>
          <a:latin typeface="Arial" panose="020B0604020202090204" pitchFamily="34" charset="0"/>
          <a:ea typeface="SimSun" pitchFamily="2" charset="-122"/>
        </a:defRPr>
      </a:lvl6pPr>
      <a:lvl7pPr marL="914400" algn="l" rtl="0" fontAlgn="base">
        <a:spcBef>
          <a:spcPct val="0"/>
        </a:spcBef>
        <a:spcAft>
          <a:spcPct val="0"/>
        </a:spcAft>
        <a:defRPr sz="3600">
          <a:solidFill>
            <a:schemeClr val="bg1"/>
          </a:solidFill>
          <a:latin typeface="Arial" panose="020B0604020202090204" pitchFamily="34" charset="0"/>
          <a:ea typeface="SimSun" pitchFamily="2" charset="-122"/>
        </a:defRPr>
      </a:lvl7pPr>
      <a:lvl8pPr marL="1371600" algn="l" rtl="0" fontAlgn="base">
        <a:spcBef>
          <a:spcPct val="0"/>
        </a:spcBef>
        <a:spcAft>
          <a:spcPct val="0"/>
        </a:spcAft>
        <a:defRPr sz="3600">
          <a:solidFill>
            <a:schemeClr val="bg1"/>
          </a:solidFill>
          <a:latin typeface="Arial" panose="020B0604020202090204" pitchFamily="34" charset="0"/>
          <a:ea typeface="SimSun" pitchFamily="2" charset="-122"/>
        </a:defRPr>
      </a:lvl8pPr>
      <a:lvl9pPr marL="1828800" algn="l" rtl="0" fontAlgn="base">
        <a:spcBef>
          <a:spcPct val="0"/>
        </a:spcBef>
        <a:spcAft>
          <a:spcPct val="0"/>
        </a:spcAft>
        <a:defRPr sz="3600">
          <a:solidFill>
            <a:schemeClr val="bg1"/>
          </a:solidFill>
          <a:latin typeface="Arial" panose="020B0604020202090204" pitchFamily="34" charset="0"/>
          <a:ea typeface="SimSun"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sv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svg"/><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svg"/><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svg"/><Relationship Id="rId1"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724218"/>
            <a:ext cx="8229600" cy="1143000"/>
          </a:xfrm>
        </p:spPr>
        <p:txBody>
          <a:bodyPr>
            <a:normAutofit fontScale="90000"/>
          </a:bodyPr>
          <a:lstStyle/>
          <a:p>
            <a:r>
              <a:rPr>
                <a:ln/>
                <a:solidFill>
                  <a:schemeClr val="tx1"/>
                </a:solidFill>
                <a:effectLst>
                  <a:outerShdw blurRad="38100" dist="19050" dir="2700000" algn="tl" rotWithShape="0">
                    <a:schemeClr val="dk1">
                      <a:alpha val="40000"/>
                      <a:alpha val="40000"/>
                    </a:schemeClr>
                  </a:outerShdw>
                </a:effectLst>
              </a:rPr>
              <a:t>How Computers Learn From Their Mistakes!</a:t>
            </a:r>
            <a:endParaRPr>
              <a:ln/>
              <a:solidFill>
                <a:schemeClr val="tx1"/>
              </a:solidFill>
              <a:effectLst>
                <a:outerShdw blurRad="38100" dist="19050" dir="2700000" algn="tl" rotWithShape="0">
                  <a:schemeClr val="dk1">
                    <a:alpha val="40000"/>
                    <a:alpha val="40000"/>
                  </a:schemeClr>
                </a:outerShdw>
              </a:effectLst>
            </a:endParaRPr>
          </a:p>
          <a:p>
            <a:r>
              <a:rPr lang="en-US">
                <a:ln/>
                <a:solidFill>
                  <a:schemeClr val="tx1"/>
                </a:solidFill>
                <a:effectLst>
                  <a:outerShdw blurRad="38100" dist="19050" dir="2700000" algn="tl" rotWithShape="0">
                    <a:schemeClr val="dk1">
                      <a:alpha val="40000"/>
                      <a:alpha val="40000"/>
                    </a:schemeClr>
                  </a:outerShdw>
                </a:effectLst>
              </a:rPr>
              <a:t>“Backpropogation”</a:t>
            </a:r>
            <a:endParaRPr lang="en-US">
              <a:ln/>
              <a:solidFill>
                <a:schemeClr val="tx1"/>
              </a:solidFill>
              <a:effectLst>
                <a:outerShdw blurRad="38100" dist="19050" dir="2700000" algn="tl" rotWithShape="0">
                  <a:schemeClr val="dk1">
                    <a:alpha val="40000"/>
                    <a:alpha val="40000"/>
                  </a:schemeClr>
                </a:outerShdw>
              </a:effectLst>
            </a:endParaRPr>
          </a:p>
        </p:txBody>
      </p:sp>
      <p:sp>
        <p:nvSpPr>
          <p:cNvPr id="3" name="Content Placeholder 2"/>
          <p:cNvSpPr>
            <a:spLocks noGrp="1"/>
          </p:cNvSpPr>
          <p:nvPr>
            <p:ph idx="1"/>
          </p:nvPr>
        </p:nvSpPr>
        <p:spPr>
          <a:xfrm>
            <a:off x="645160" y="2411730"/>
            <a:ext cx="7853680" cy="4062730"/>
          </a:xfrm>
        </p:spPr>
        <p:txBody>
          <a:bodyPr>
            <a:normAutofit lnSpcReduction="20000"/>
          </a:bodyPr>
          <a:lstStyle/>
          <a:p>
            <a:pPr algn="ctr"/>
            <a:r>
              <a:t>Hey everyone! Have you ever wondered how your phone knows your face, or how a computer can learn to play a game? It seems like magic, but today we're going to learn the secret trick. It's a big, fancy word—'Backpropagation'—but the idea is actually super simple. Let's break it down!</a:t>
            </a:r>
          </a:p>
        </p:txBody>
      </p:sp>
      <p:sp>
        <p:nvSpPr>
          <p:cNvPr id="5" name="Footer Placeholder 4"/>
          <p:cNvSpPr>
            <a:spLocks noGrp="1"/>
          </p:cNvSpPr>
          <p:nvPr>
            <p:ph type="ftr" sz="quarter" idx="11"/>
          </p:nvPr>
        </p:nvSpPr>
        <p:spPr/>
        <p:txBody>
          <a:bodyPr/>
          <a:p>
            <a:r>
              <a:rPr lang="en-US"/>
              <a:t>Jonathan Smith A04 ITAI 2376 Deep Learning for an 11 year old</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The Digital Brain</a:t>
            </a:r>
          </a:p>
        </p:txBody>
      </p:sp>
      <p:sp>
        <p:nvSpPr>
          <p:cNvPr id="3" name="Content Placeholder 2"/>
          <p:cNvSpPr>
            <a:spLocks noGrp="1"/>
          </p:cNvSpPr>
          <p:nvPr>
            <p:ph idx="1"/>
          </p:nvPr>
        </p:nvSpPr>
        <p:spPr>
          <a:xfrm>
            <a:off x="178435" y="1113790"/>
            <a:ext cx="6438265" cy="2531110"/>
          </a:xfrm>
        </p:spPr>
        <p:txBody>
          <a:bodyPr>
            <a:normAutofit fontScale="60000"/>
          </a:bodyPr>
          <a:lstStyle/>
          <a:p>
            <a:pPr marL="0" indent="0">
              <a:buNone/>
            </a:pPr>
          </a:p>
          <a:p>
            <a:r>
              <a:t>What is a 'Digital Brain'?</a:t>
            </a:r>
          </a:p>
          <a:p>
            <a:r>
              <a:t>Scientists call it a Neural Network.</a:t>
            </a:r>
          </a:p>
          <a:p>
            <a:r>
              <a:t>It's made of tiny digital 'brain cells' that work in teams (called layers).</a:t>
            </a:r>
          </a:p>
          <a:p>
            <a:r>
              <a:t>Its job is to look at something (like a picture) and make a GUESS.</a:t>
            </a:r>
          </a:p>
          <a:p/>
          <a:p>
            <a:pPr marL="0" indent="0">
              <a:buNone/>
            </a:pPr>
          </a:p>
        </p:txBody>
      </p:sp>
      <p:pic>
        <p:nvPicPr>
          <p:cNvPr id="4" name="Picture 3" descr="digital_brain_network"/>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94995" y="3429000"/>
            <a:ext cx="4796790" cy="2998470"/>
          </a:xfrm>
          <a:prstGeom prst="rect">
            <a:avLst/>
          </a:prstGeom>
        </p:spPr>
      </p:pic>
      <p:sp>
        <p:nvSpPr>
          <p:cNvPr id="6" name="Footer Placeholder 5"/>
          <p:cNvSpPr>
            <a:spLocks noGrp="1"/>
          </p:cNvSpPr>
          <p:nvPr>
            <p:ph type="ftr" sz="quarter" idx="11"/>
          </p:nvPr>
        </p:nvSpPr>
        <p:spPr/>
        <p:txBody>
          <a:bodyPr/>
          <a:p>
            <a:r>
              <a:rPr lang="en-US"/>
              <a:t>Jonathan Smith A04 ITAI 2376 Deep Learning for an 11 year old</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p:txBody>
          <a:bodyPr/>
          <a:p>
            <a:r>
              <a:rPr>
                <a:sym typeface="+mn-ea"/>
              </a:rPr>
              <a:t>So, when we talk about 'Artificial Intelligence' or 'AI,' we're often talking about these 'digital brains.' Think of it like a brand new baby brain. It's connected, but it doesn't know anything yet. Its main job is to guess, guess, guess.</a:t>
            </a:r>
            <a:endParaRPr lang="en-US"/>
          </a:p>
        </p:txBody>
      </p:sp>
      <p:sp>
        <p:nvSpPr>
          <p:cNvPr id="5" name="Footer Placeholder 4"/>
          <p:cNvSpPr>
            <a:spLocks noGrp="1"/>
          </p:cNvSpPr>
          <p:nvPr>
            <p:ph type="ftr" sz="quarter" idx="11"/>
          </p:nvPr>
        </p:nvSpPr>
        <p:spPr/>
        <p:txBody>
          <a:bodyPr/>
          <a:p>
            <a:r>
              <a:rPr lang="en-US"/>
              <a:t>Jonathan Smith A04 ITAI 2376 Deep Learning for an 11 year old</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The Big Problem</a:t>
            </a:r>
          </a:p>
        </p:txBody>
      </p:sp>
      <p:sp>
        <p:nvSpPr>
          <p:cNvPr id="3" name="Content Placeholder 2"/>
          <p:cNvSpPr>
            <a:spLocks noGrp="1"/>
          </p:cNvSpPr>
          <p:nvPr>
            <p:ph idx="1"/>
          </p:nvPr>
        </p:nvSpPr>
        <p:spPr/>
        <p:txBody>
          <a:bodyPr/>
          <a:lstStyle/>
          <a:p>
            <a:r>
              <a:t>New Brains Make... Bad Guesses.</a:t>
            </a:r>
          </a:p>
          <a:p>
            <a:r>
              <a:t>When a digital brain first starts, its guesses are terrible.</a:t>
            </a:r>
          </a:p>
          <a:p>
            <a:r>
              <a:t>It might look at a picture of your cat and guess 'Car?' or 'Banana?'</a:t>
            </a:r>
          </a:p>
          <a:p>
            <a:r>
              <a:t>How do we teach it? We have to tell it, 'NOPE! That's a CAT.'</a:t>
            </a:r>
          </a:p>
          <a:p>
            <a:r>
              <a:t>But... how does the whole brain learn from that one 'NOPE'?</a:t>
            </a:r>
          </a:p>
          <a:p/>
          <a:p>
            <a:pPr marL="0" indent="0">
              <a:buNone/>
            </a:pPr>
          </a:p>
        </p:txBody>
      </p:sp>
      <p:sp>
        <p:nvSpPr>
          <p:cNvPr id="5" name="Footer Placeholder 4"/>
          <p:cNvSpPr>
            <a:spLocks noGrp="1"/>
          </p:cNvSpPr>
          <p:nvPr>
            <p:ph type="ftr" sz="quarter" idx="11"/>
          </p:nvPr>
        </p:nvSpPr>
        <p:spPr/>
        <p:txBody>
          <a:bodyPr/>
          <a:p>
            <a:r>
              <a:rPr lang="en-US"/>
              <a:t>Jonathan Smith A04 ITAI 2376 Deep Learning for an 11 year old</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p:txBody>
          <a:bodyPr/>
          <a:p>
            <a:r>
              <a:rPr>
                <a:sym typeface="+mn-ea"/>
              </a:rPr>
              <a:t>This is the big question! If the brain has thousands of 'cells' all working together, how do they all know what they did wrong, just from one final bad answer? Let's use an analogy...</a:t>
            </a:r>
            <a:endParaRPr lang="en-US"/>
          </a:p>
        </p:txBody>
      </p:sp>
      <p:sp>
        <p:nvSpPr>
          <p:cNvPr id="5" name="Footer Placeholder 4"/>
          <p:cNvSpPr>
            <a:spLocks noGrp="1"/>
          </p:cNvSpPr>
          <p:nvPr>
            <p:ph type="ftr" sz="quarter" idx="11"/>
          </p:nvPr>
        </p:nvSpPr>
        <p:spPr/>
        <p:txBody>
          <a:bodyPr/>
          <a:p>
            <a:r>
              <a:rPr lang="en-US"/>
              <a:t>Jonathan Smith A04 ITAI 2376 Deep Learning for an 11 year old</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The Analogy: The Whisper Team!</a:t>
            </a:r>
          </a:p>
        </p:txBody>
      </p:sp>
      <p:sp>
        <p:nvSpPr>
          <p:cNvPr id="3" name="Content Placeholder 2"/>
          <p:cNvSpPr>
            <a:spLocks noGrp="1"/>
          </p:cNvSpPr>
          <p:nvPr>
            <p:ph idx="1"/>
          </p:nvPr>
        </p:nvSpPr>
        <p:spPr/>
        <p:txBody>
          <a:bodyPr/>
          <a:lstStyle/>
          <a:p>
            <a:r>
              <a:t>Let's think of the digital brain as a Whisper Team.</a:t>
            </a:r>
          </a:p>
          <a:p>
            <a:r>
              <a:t>Their job: Get a secret message from the start of the line to the end.</a:t>
            </a:r>
          </a:p>
          <a:p>
            <a:r>
              <a:t>Each kid (a 'neuron') can only whisper to the kid in front of them.</a:t>
            </a:r>
          </a:p>
          <a:p>
            <a:r>
              <a:t>They change the message just a little bit as it goes.</a:t>
            </a:r>
          </a:p>
          <a:p>
            <a:pPr marL="0" indent="0">
              <a:buNone/>
            </a:pPr>
          </a:p>
        </p:txBody>
      </p:sp>
      <p:sp>
        <p:nvSpPr>
          <p:cNvPr id="5" name="Footer Placeholder 4"/>
          <p:cNvSpPr>
            <a:spLocks noGrp="1"/>
          </p:cNvSpPr>
          <p:nvPr>
            <p:ph type="ftr" sz="quarter" idx="11"/>
          </p:nvPr>
        </p:nvSpPr>
        <p:spPr/>
        <p:txBody>
          <a:bodyPr/>
          <a:p>
            <a:r>
              <a:rPr lang="en-US"/>
              <a:t>Jonathan Smith A04 ITAI 2376 Deep Learning for an 11 year old</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980440" y="880110"/>
            <a:ext cx="6475095" cy="2548890"/>
          </a:xfrm>
        </p:spPr>
        <p:txBody>
          <a:bodyPr>
            <a:normAutofit fontScale="80000"/>
          </a:bodyPr>
          <a:p>
            <a:r>
              <a:rPr>
                <a:sym typeface="+mn-ea"/>
              </a:rPr>
              <a:t>You've all played the 'whisper down the lane' or 'telephone' game, right? Where the message gets all messed up by the end? A digital brain is just like that, but in reverse. They're trying to get the right answer at the end.</a:t>
            </a:r>
            <a:endParaRPr lang="en-US"/>
          </a:p>
        </p:txBody>
      </p:sp>
      <p:pic>
        <p:nvPicPr>
          <p:cNvPr id="4" name="Picture 3" descr="whisper_team"/>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672590" y="3429635"/>
            <a:ext cx="6269990" cy="3081655"/>
          </a:xfrm>
          <a:prstGeom prst="rect">
            <a:avLst/>
          </a:prstGeom>
        </p:spPr>
      </p:pic>
      <p:sp>
        <p:nvSpPr>
          <p:cNvPr id="5" name="Footer Placeholder 4"/>
          <p:cNvSpPr>
            <a:spLocks noGrp="1"/>
          </p:cNvSpPr>
          <p:nvPr>
            <p:ph type="ftr" sz="quarter" idx="11"/>
          </p:nvPr>
        </p:nvSpPr>
        <p:spPr/>
        <p:txBody>
          <a:bodyPr/>
          <a:p>
            <a:r>
              <a:rPr lang="en-US"/>
              <a:t>Jonathan Smith A04 ITAI 2376 Deep Learning for an 11 year old</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Step 1: The First Guess (It's... Bad)</a:t>
            </a:r>
          </a:p>
        </p:txBody>
      </p:sp>
      <p:sp>
        <p:nvSpPr>
          <p:cNvPr id="3" name="Content Placeholder 2"/>
          <p:cNvSpPr>
            <a:spLocks noGrp="1"/>
          </p:cNvSpPr>
          <p:nvPr>
            <p:ph idx="1"/>
          </p:nvPr>
        </p:nvSpPr>
        <p:spPr/>
        <p:txBody>
          <a:bodyPr/>
          <a:lstStyle/>
          <a:p>
            <a:r>
              <a:t>The Whisper Team's First Try</a:t>
            </a:r>
          </a:p>
          <a:p>
            <a:r>
              <a:t>Kid 1 (Input): Sees a picture of a CAT.</a:t>
            </a:r>
          </a:p>
          <a:p>
            <a:r>
              <a:t>Kid 2 (Neuron): Whispers 'furry...'</a:t>
            </a:r>
          </a:p>
          <a:p>
            <a:r>
              <a:t>Kid 3 (Neuron): Whispers '...four legs...'</a:t>
            </a:r>
          </a:p>
          <a:p>
            <a:r>
              <a:t>Kid 4 (Output): Shouts 'It's a DOG!'</a:t>
            </a:r>
          </a:p>
          <a:p>
            <a:r>
              <a:t>This is called the 'Forward Pass' (passing the message forward).</a:t>
            </a:r>
          </a:p>
          <a:p/>
          <a:p>
            <a:pPr marL="0" indent="0">
              <a:buNone/>
            </a:pPr>
            <a:r>
              <a:t>.</a:t>
            </a:r>
          </a:p>
        </p:txBody>
      </p:sp>
      <p:sp>
        <p:nvSpPr>
          <p:cNvPr id="5" name="Footer Placeholder 4"/>
          <p:cNvSpPr>
            <a:spLocks noGrp="1"/>
          </p:cNvSpPr>
          <p:nvPr>
            <p:ph type="ftr" sz="quarter" idx="11"/>
          </p:nvPr>
        </p:nvSpPr>
        <p:spPr/>
        <p:txBody>
          <a:bodyPr/>
          <a:p>
            <a:r>
              <a:rPr lang="en-US"/>
              <a:t>Jonathan Smith A04 ITAI 2376 Deep Learning for an 11 year old</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457200" y="317500"/>
            <a:ext cx="8229600" cy="4525963"/>
          </a:xfrm>
        </p:spPr>
        <p:txBody>
          <a:bodyPr/>
          <a:p>
            <a:endParaRPr lang="en-US"/>
          </a:p>
          <a:p>
            <a:r>
              <a:rPr>
                <a:sym typeface="+mn-ea"/>
              </a:rPr>
              <a:t>So, the info goes forward through the line. Each kid takes the info they heard, changes it a little, and passes it on. And at the end... Kid 4 gets it wrong. This is the 'forward pass'—just making the guess.</a:t>
            </a:r>
            <a:endParaRPr lang="en-US"/>
          </a:p>
        </p:txBody>
      </p:sp>
      <p:pic>
        <p:nvPicPr>
          <p:cNvPr id="5" name="Picture 4" descr="backpropagation_backward"/>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433830" y="3429000"/>
            <a:ext cx="5754370" cy="3236595"/>
          </a:xfrm>
          <a:prstGeom prst="rect">
            <a:avLst/>
          </a:prstGeom>
        </p:spPr>
      </p:pic>
      <p:sp>
        <p:nvSpPr>
          <p:cNvPr id="4" name="Footer Placeholder 3"/>
          <p:cNvSpPr>
            <a:spLocks noGrp="1"/>
          </p:cNvSpPr>
          <p:nvPr>
            <p:ph type="ftr" sz="quarter" idx="11"/>
          </p:nvPr>
        </p:nvSpPr>
        <p:spPr/>
        <p:txBody>
          <a:bodyPr/>
          <a:p>
            <a:r>
              <a:rPr lang="en-US"/>
              <a:t>Jonathan Smith A04 ITAI 2376 Deep Learning for an 11 year old</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Step 2: The 'Oh No!' Moment</a:t>
            </a:r>
          </a:p>
        </p:txBody>
      </p:sp>
      <p:sp>
        <p:nvSpPr>
          <p:cNvPr id="3" name="Content Placeholder 2"/>
          <p:cNvSpPr>
            <a:spLocks noGrp="1"/>
          </p:cNvSpPr>
          <p:nvPr>
            <p:ph idx="1"/>
          </p:nvPr>
        </p:nvSpPr>
        <p:spPr/>
        <p:txBody>
          <a:bodyPr/>
          <a:lstStyle/>
          <a:p>
            <a:r>
              <a:t>Finding The Mistake</a:t>
            </a:r>
          </a:p>
          <a:p>
            <a:r>
              <a:t>The Teacher (that's us!) says: 'NOPE! It was a CAT.'</a:t>
            </a:r>
          </a:p>
          <a:p>
            <a:r>
              <a:t>This is the 'Mistake' (or 'Error'). The guess 'Dog' is very different from the answer 'Cat.'</a:t>
            </a:r>
          </a:p>
          <a:p>
            <a:r>
              <a:t>Kid 4 (the last kid in the line) is the first one to know they messed up.</a:t>
            </a:r>
          </a:p>
          <a:p/>
          <a:p>
            <a:pPr marL="0" indent="0">
              <a:buNone/>
            </a:pPr>
          </a:p>
        </p:txBody>
      </p:sp>
      <p:sp>
        <p:nvSpPr>
          <p:cNvPr id="5" name="Footer Placeholder 4"/>
          <p:cNvSpPr>
            <a:spLocks noGrp="1"/>
          </p:cNvSpPr>
          <p:nvPr>
            <p:ph type="ftr" sz="quarter" idx="11"/>
          </p:nvPr>
        </p:nvSpPr>
        <p:spPr/>
        <p:txBody>
          <a:bodyPr/>
          <a:p>
            <a:r>
              <a:rPr lang="en-US"/>
              <a:t>Jonathan Smith A04 ITAI 2376 Deep Learning for an 11 year old</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p:txBody>
          <a:bodyPr/>
          <a:p>
            <a:r>
              <a:rPr>
                <a:sym typeface="+mn-ea"/>
              </a:rPr>
              <a:t>This is the most important moment! The team made a mistake, and now they know it. Kid 4 is standing there knowing his answer was wrong. What does he do?</a:t>
            </a:r>
            <a:endParaRPr lang="en-US"/>
          </a:p>
        </p:txBody>
      </p:sp>
      <p:sp>
        <p:nvSpPr>
          <p:cNvPr id="5" name="Footer Placeholder 4"/>
          <p:cNvSpPr>
            <a:spLocks noGrp="1"/>
          </p:cNvSpPr>
          <p:nvPr>
            <p:ph type="ftr" sz="quarter" idx="11"/>
          </p:nvPr>
        </p:nvSpPr>
        <p:spPr/>
        <p:txBody>
          <a:bodyPr/>
          <a:p>
            <a:r>
              <a:rPr lang="en-US"/>
              <a:t>Jonathan Smith A04 ITAI 2376 Deep Learning for an 11 year old</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rPr>
                <a:ln/>
                <a:solidFill>
                  <a:schemeClr val="tx1"/>
                </a:solidFill>
                <a:effectLst>
                  <a:outerShdw blurRad="38100" dist="19050" dir="2700000" algn="tl" rotWithShape="0">
                    <a:schemeClr val="dk1">
                      <a:alpha val="40000"/>
                      <a:alpha val="40000"/>
                    </a:schemeClr>
                  </a:outerShdw>
                </a:effectLst>
              </a:rPr>
              <a:t>Step 3: Pass the Blame... BACKWARD!</a:t>
            </a:r>
            <a:endParaRPr>
              <a:ln/>
              <a:solidFill>
                <a:schemeClr val="tx1"/>
              </a:solidFill>
              <a:effectLst>
                <a:outerShdw blurRad="38100" dist="19050" dir="2700000" algn="tl" rotWithShape="0">
                  <a:schemeClr val="dk1">
                    <a:alpha val="40000"/>
                    <a:alpha val="40000"/>
                  </a:schemeClr>
                </a:outerShdw>
              </a:effectLst>
            </a:endParaRPr>
          </a:p>
        </p:txBody>
      </p:sp>
      <p:sp>
        <p:nvSpPr>
          <p:cNvPr id="3" name="Content Placeholder 2"/>
          <p:cNvSpPr>
            <a:spLocks noGrp="1"/>
          </p:cNvSpPr>
          <p:nvPr>
            <p:ph idx="1"/>
          </p:nvPr>
        </p:nvSpPr>
        <p:spPr>
          <a:xfrm>
            <a:off x="977265" y="1600200"/>
            <a:ext cx="7709535" cy="4082415"/>
          </a:xfrm>
        </p:spPr>
        <p:txBody>
          <a:bodyPr>
            <a:normAutofit fontScale="80000"/>
          </a:bodyPr>
          <a:lstStyle/>
          <a:p>
            <a:r>
              <a:t>This is BACK-PROPAGATION!</a:t>
            </a:r>
          </a:p>
          <a:p>
            <a:r>
              <a:t>'Back' means backward. They pass the 'blame' back down the line.</a:t>
            </a:r>
          </a:p>
          <a:p>
            <a:r>
              <a:t>Kid 4 (Output): Turns to Kid 3. 'You set me up! Your '...four legs...' whisper was too 'dog'-like. Be more 'cat'-like next time!'</a:t>
            </a:r>
          </a:p>
          <a:p>
            <a:r>
              <a:t>Kid 3 (Neuron): Turns to Kid 2. 'You gave me bad info! Your 'furry...' whisper was too 'dog'-like. Make it sound more 'cat'-like!'</a:t>
            </a:r>
          </a:p>
          <a:p/>
          <a:p>
            <a:pPr marL="0" indent="0">
              <a:buNone/>
            </a:pPr>
          </a:p>
        </p:txBody>
      </p:sp>
      <p:sp>
        <p:nvSpPr>
          <p:cNvPr id="5" name="Footer Placeholder 4"/>
          <p:cNvSpPr>
            <a:spLocks noGrp="1"/>
          </p:cNvSpPr>
          <p:nvPr>
            <p:ph type="ftr" sz="quarter" idx="11"/>
          </p:nvPr>
        </p:nvSpPr>
        <p:spPr/>
        <p:txBody>
          <a:bodyPr/>
          <a:p>
            <a:r>
              <a:rPr lang="en-US"/>
              <a:t>Jonathan Smith A04 ITAI 2376 Deep Learning for an 11 year old</a:t>
            </a: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a:sym typeface="+mn-ea"/>
              </a:rPr>
              <a:t>This is the secret! Backpropagation! It's just a fancy word for 'passing the message about the mistake backward.' Each kid tells the kid behind them how they messed up and what they need to fix for next time.</a:t>
            </a:r>
            <a:endParaRPr lang="en-US"/>
          </a:p>
        </p:txBody>
      </p:sp>
      <p:sp>
        <p:nvSpPr>
          <p:cNvPr id="5" name="Footer Placeholder 4"/>
          <p:cNvSpPr>
            <a:spLocks noGrp="1"/>
          </p:cNvSpPr>
          <p:nvPr>
            <p:ph type="ftr" sz="quarter" idx="11"/>
          </p:nvPr>
        </p:nvSpPr>
        <p:spPr/>
        <p:txBody>
          <a:bodyPr/>
          <a:p>
            <a:r>
              <a:rPr lang="en-US"/>
              <a:t>Jonathan Smith A04 ITAI 2376 Deep Learning for an 11 year old</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rPr>
                <a:ln/>
                <a:solidFill>
                  <a:schemeClr val="tx1"/>
                </a:solidFill>
                <a:effectLst>
                  <a:outerShdw blurRad="38100" dist="19050" dir="2700000" algn="tl" rotWithShape="0">
                    <a:schemeClr val="dk1">
                      <a:alpha val="40000"/>
                      <a:alpha val="40000"/>
                    </a:schemeClr>
                  </a:outerShdw>
                </a:effectLst>
              </a:rPr>
              <a:t>Step 4: Making Tiny Fixes (Learning!)</a:t>
            </a:r>
            <a:endParaRPr>
              <a:ln/>
              <a:solidFill>
                <a:schemeClr val="tx1"/>
              </a:solidFill>
              <a:effectLst>
                <a:outerShdw blurRad="38100" dist="19050" dir="2700000" algn="tl" rotWithShape="0">
                  <a:schemeClr val="dk1">
                    <a:alpha val="40000"/>
                    <a:alpha val="40000"/>
                  </a:schemeClr>
                </a:outerShdw>
              </a:effectLst>
            </a:endParaRPr>
          </a:p>
        </p:txBody>
      </p:sp>
      <p:sp>
        <p:nvSpPr>
          <p:cNvPr id="3" name="Content Placeholder 2"/>
          <p:cNvSpPr>
            <a:spLocks noGrp="1"/>
          </p:cNvSpPr>
          <p:nvPr>
            <p:ph idx="1"/>
          </p:nvPr>
        </p:nvSpPr>
        <p:spPr/>
        <p:txBody>
          <a:bodyPr/>
          <a:lstStyle/>
          <a:p>
            <a:r>
              <a:t>Learning is Making Tiny Changes.</a:t>
            </a:r>
          </a:p>
          <a:p>
            <a:r>
              <a:t>'Passing the blame' is actually super-smart math.</a:t>
            </a:r>
          </a:p>
          <a:p>
            <a:r>
              <a:t>Each kid (neuron) figures out how much they were to blame.</a:t>
            </a:r>
          </a:p>
          <a:p>
            <a:r>
              <a:t>The kids who made the biggest mistakes get the biggest correction.</a:t>
            </a:r>
          </a:p>
          <a:p/>
        </p:txBody>
      </p:sp>
      <p:sp>
        <p:nvSpPr>
          <p:cNvPr id="5" name="Footer Placeholder 4"/>
          <p:cNvSpPr>
            <a:spLocks noGrp="1"/>
          </p:cNvSpPr>
          <p:nvPr>
            <p:ph type="ftr" sz="quarter" idx="11"/>
          </p:nvPr>
        </p:nvSpPr>
        <p:spPr/>
        <p:txBody>
          <a:bodyPr/>
          <a:p>
            <a:r>
              <a:rPr lang="en-US"/>
              <a:t>Jonathan Smith A04 ITAI 2376 Deep Learning for an 11 year old</a:t>
            </a: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fontScale="70000"/>
          </a:bodyPr>
          <a:p>
            <a:r>
              <a:rPr>
                <a:sym typeface="+mn-ea"/>
              </a:rPr>
              <a:t>They all make a TINY, TINY change to how they'll whisper next time.</a:t>
            </a:r>
            <a:endParaRPr>
              <a:sym typeface="+mn-ea"/>
            </a:endParaRPr>
          </a:p>
          <a:p>
            <a:r>
              <a:rPr>
                <a:sym typeface="+mn-ea"/>
              </a:rPr>
              <a:t>(Why tiny? If they make a HUGE change, they might mess up the guess for 'Bird' or 'Fish' later!)</a:t>
            </a:r>
            <a:endParaRPr>
              <a:sym typeface="+mn-ea"/>
            </a:endParaRPr>
          </a:p>
          <a:p>
            <a:endParaRPr lang="en-US"/>
          </a:p>
          <a:p>
            <a:r>
              <a:rPr>
                <a:sym typeface="+mn-ea"/>
              </a:rPr>
              <a:t>This is the 'learning' part. Each kid in the line doesn't just forget. They adjust. They think, 'Okay, I'll whisper 1% less 'dog-like' and 1% more 'cat-like' next time.' They only make tiny, tiny changes so they don't mess up all the other things they've learned.</a:t>
            </a:r>
            <a:endParaRPr lang="en-US"/>
          </a:p>
        </p:txBody>
      </p:sp>
      <p:sp>
        <p:nvSpPr>
          <p:cNvPr id="5" name="Footer Placeholder 4"/>
          <p:cNvSpPr>
            <a:spLocks noGrp="1"/>
          </p:cNvSpPr>
          <p:nvPr>
            <p:ph type="ftr" sz="quarter" idx="11"/>
          </p:nvPr>
        </p:nvSpPr>
        <p:spPr/>
        <p:txBody>
          <a:bodyPr/>
          <a:p>
            <a:r>
              <a:rPr lang="en-US"/>
              <a:t>Jonathan Smith A04 ITAI 2376 Deep Learning for an 11 year old</a:t>
            </a: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Step 5: Try, Try Again!</a:t>
            </a:r>
          </a:p>
        </p:txBody>
      </p:sp>
      <p:sp>
        <p:nvSpPr>
          <p:cNvPr id="3" name="Content Placeholder 2"/>
          <p:cNvSpPr>
            <a:spLocks noGrp="1"/>
          </p:cNvSpPr>
          <p:nvPr>
            <p:ph idx="1"/>
          </p:nvPr>
        </p:nvSpPr>
        <p:spPr/>
        <p:txBody>
          <a:bodyPr/>
          <a:lstStyle/>
          <a:p>
            <a:r>
              <a:t>Let's Go Again!</a:t>
            </a:r>
          </a:p>
          <a:p>
            <a:r>
              <a:t>The Teacher gives them the same 'CAT' picture.</a:t>
            </a:r>
          </a:p>
          <a:p>
            <a:r>
              <a:t>Kid 1 (Input): Sees CAT.</a:t>
            </a:r>
          </a:p>
          <a:p>
            <a:r>
              <a:t>Kid 2 (Adjusted!): Whispers 'furry... meow...'</a:t>
            </a:r>
          </a:p>
          <a:p>
            <a:r>
              <a:t>Kid 3 (Adjusted!): Whispers '...four legs... small...'</a:t>
            </a:r>
          </a:p>
          <a:p>
            <a:r>
              <a:t>Kid 4 (Adjusted!): Shouts 'It's a CAT!'</a:t>
            </a:r>
          </a:p>
          <a:p>
            <a:r>
              <a:t>Teacher: 'YES! Great job, team!'</a:t>
            </a:r>
          </a:p>
          <a:p/>
          <a:p>
            <a:r>
              <a:t>Speaker Notes:</a:t>
            </a:r>
          </a:p>
          <a:p>
            <a:r>
              <a:t>Now they try again with their new, adjusted whispers. And this time, because of the backward messages and the tiny fixes, the final guess is much better! They got it right!</a:t>
            </a:r>
          </a:p>
        </p:txBody>
      </p:sp>
      <p:sp>
        <p:nvSpPr>
          <p:cNvPr id="5" name="Footer Placeholder 4"/>
          <p:cNvSpPr>
            <a:spLocks noGrp="1"/>
          </p:cNvSpPr>
          <p:nvPr>
            <p:ph type="ftr" sz="quarter" idx="11"/>
          </p:nvPr>
        </p:nvSpPr>
        <p:spPr/>
        <p:txBody>
          <a:bodyPr/>
          <a:p>
            <a:r>
              <a:rPr lang="en-US"/>
              <a:t>Jonathan Smith A04 ITAI 2376 Deep Learning for an 11 year old</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p:txBody>
          <a:bodyPr/>
          <a:p>
            <a:r>
              <a:rPr>
                <a:sym typeface="+mn-ea"/>
              </a:rPr>
              <a:t>Now they try again with their new, adjusted whispers. And this time, because of the backward messages and the tiny fixes, the final guess is much better! They got it right!</a:t>
            </a:r>
            <a:endParaRPr>
              <a:sym typeface="+mn-ea"/>
            </a:endParaRPr>
          </a:p>
          <a:p>
            <a:endParaRPr lang="en-US"/>
          </a:p>
        </p:txBody>
      </p:sp>
      <p:sp>
        <p:nvSpPr>
          <p:cNvPr id="5" name="Footer Placeholder 4"/>
          <p:cNvSpPr>
            <a:spLocks noGrp="1"/>
          </p:cNvSpPr>
          <p:nvPr>
            <p:ph type="ftr" sz="quarter" idx="11"/>
          </p:nvPr>
        </p:nvSpPr>
        <p:spPr/>
        <p:txBody>
          <a:bodyPr/>
          <a:p>
            <a:r>
              <a:rPr lang="en-US"/>
              <a:t>Jonathan Smith A04 ITAI 2376 Deep Learning for an 11 year old</a:t>
            </a: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So, What is Backpropagation?</a:t>
            </a:r>
          </a:p>
        </p:txBody>
      </p:sp>
      <p:sp>
        <p:nvSpPr>
          <p:cNvPr id="3" name="Content Placeholder 2"/>
          <p:cNvSpPr>
            <a:spLocks noGrp="1"/>
          </p:cNvSpPr>
          <p:nvPr>
            <p:ph idx="1"/>
          </p:nvPr>
        </p:nvSpPr>
        <p:spPr/>
        <p:txBody>
          <a:bodyPr/>
          <a:lstStyle/>
          <a:p>
            <a:r>
              <a:t>It's the loop that computers use to learn:</a:t>
            </a:r>
          </a:p>
          <a:p>
            <a:r>
              <a:t>1. Guess (The Forward Pass)</a:t>
            </a:r>
          </a:p>
          <a:p>
            <a:r>
              <a:t>2. Find the Mistake (The Error)</a:t>
            </a:r>
          </a:p>
          <a:p>
            <a:r>
              <a:t>3. Pass the Blame Backward (Backpropagation!)</a:t>
            </a:r>
          </a:p>
          <a:p>
            <a:r>
              <a:t>4. Make Tiny Fixes (Learning!)</a:t>
            </a:r>
          </a:p>
          <a:p>
            <a:r>
              <a:t>...and then they do this MILLIONS of times.</a:t>
            </a:r>
          </a:p>
          <a:p/>
          <a:p>
            <a:pPr marL="0" indent="0">
              <a:buNone/>
            </a:pPr>
          </a:p>
        </p:txBody>
      </p:sp>
      <p:sp>
        <p:nvSpPr>
          <p:cNvPr id="5" name="Footer Placeholder 4"/>
          <p:cNvSpPr>
            <a:spLocks noGrp="1"/>
          </p:cNvSpPr>
          <p:nvPr>
            <p:ph type="ftr" sz="quarter" idx="11"/>
          </p:nvPr>
        </p:nvSpPr>
        <p:spPr/>
        <p:txBody>
          <a:bodyPr/>
          <a:p>
            <a:r>
              <a:rPr lang="en-US"/>
              <a:t>Jonathan Smith A04 ITAI 2376 Deep Learning for an 11 year old</a:t>
            </a: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p:txBody>
          <a:bodyPr/>
          <a:p>
            <a:r>
              <a:rPr>
                <a:sym typeface="+mn-ea"/>
              </a:rPr>
              <a:t>That's all it is! It's just a loop. You guess, you check how wrong you were, you send the 'fix-it' message backward, and everyone makes a tiny change. By doing this millions of times, with millions of pictures, the digital brain gets super, super smart.</a:t>
            </a:r>
            <a:endParaRPr>
              <a:sym typeface="+mn-ea"/>
            </a:endParaRPr>
          </a:p>
          <a:p>
            <a:endParaRPr lang="en-US"/>
          </a:p>
        </p:txBody>
      </p:sp>
      <p:sp>
        <p:nvSpPr>
          <p:cNvPr id="5" name="Footer Placeholder 4"/>
          <p:cNvSpPr>
            <a:spLocks noGrp="1"/>
          </p:cNvSpPr>
          <p:nvPr>
            <p:ph type="ftr" sz="quarter" idx="11"/>
          </p:nvPr>
        </p:nvSpPr>
        <p:spPr/>
        <p:txBody>
          <a:bodyPr/>
          <a:p>
            <a:r>
              <a:rPr lang="en-US"/>
              <a:t>Jonathan Smith A04 ITAI 2376 Deep Learning for an 11 year old</a:t>
            </a: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Why Is This So Cool?</a:t>
            </a:r>
          </a:p>
        </p:txBody>
      </p:sp>
      <p:sp>
        <p:nvSpPr>
          <p:cNvPr id="3" name="Content Placeholder 2"/>
          <p:cNvSpPr>
            <a:spLocks noGrp="1"/>
          </p:cNvSpPr>
          <p:nvPr>
            <p:ph idx="1"/>
          </p:nvPr>
        </p:nvSpPr>
        <p:spPr/>
        <p:txBody>
          <a:bodyPr/>
          <a:lstStyle/>
          <a:p>
            <a:pPr marL="0" indent="0">
              <a:buNone/>
            </a:pPr>
            <a:r>
              <a:t>This 'Whisper Team' Trick is Everywhere!</a:t>
            </a:r>
          </a:p>
          <a:p>
            <a:r>
              <a:t>This is how computers learn to:</a:t>
            </a:r>
          </a:p>
          <a:p>
            <a:r>
              <a:t>- Recognize your face to unlock your phone.</a:t>
            </a:r>
          </a:p>
          <a:p>
            <a:r>
              <a:t>- Understand what you say to Siri or Alexa.</a:t>
            </a:r>
          </a:p>
          <a:p>
            <a:r>
              <a:t>- Drive self-driving cars (by guessing 'Is that a stop sign?').</a:t>
            </a:r>
          </a:p>
          <a:p>
            <a:r>
              <a:t>- Help doctors find diseases in X-rays.</a:t>
            </a:r>
          </a:p>
          <a:p/>
          <a:p>
            <a:pPr marL="0" indent="0">
              <a:buNone/>
            </a:pPr>
          </a:p>
        </p:txBody>
      </p:sp>
      <p:sp>
        <p:nvSpPr>
          <p:cNvPr id="5" name="Footer Placeholder 4"/>
          <p:cNvSpPr>
            <a:spLocks noGrp="1"/>
          </p:cNvSpPr>
          <p:nvPr>
            <p:ph type="ftr" sz="quarter" idx="11"/>
          </p:nvPr>
        </p:nvSpPr>
        <p:spPr/>
        <p:txBody>
          <a:bodyPr/>
          <a:p>
            <a:r>
              <a:rPr lang="en-US"/>
              <a:t>Jonathan Smith A04 ITAI 2376 Deep Learning for an 11 year old</a:t>
            </a: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p:txBody>
          <a:bodyPr/>
          <a:p>
            <a:r>
              <a:rPr>
                <a:sym typeface="+mn-ea"/>
              </a:rPr>
              <a:t>This one simple idea powers almost all the cool AI we see today. From your photo apps to the most advanced science, it's all just a really big 'Whisper Team' learning from its mistakes.</a:t>
            </a:r>
            <a:endParaRPr>
              <a:sym typeface="+mn-ea"/>
            </a:endParaRPr>
          </a:p>
          <a:p>
            <a:endParaRPr lang="en-US"/>
          </a:p>
        </p:txBody>
      </p:sp>
      <p:sp>
        <p:nvSpPr>
          <p:cNvPr id="6" name="Footer Placeholder 5"/>
          <p:cNvSpPr>
            <a:spLocks noGrp="1"/>
          </p:cNvSpPr>
          <p:nvPr>
            <p:ph type="ftr" sz="quarter" idx="11"/>
          </p:nvPr>
        </p:nvSpPr>
        <p:spPr/>
        <p:txBody>
          <a:bodyPr/>
          <a:p>
            <a:r>
              <a:rPr lang="en-US"/>
              <a:t>Jonathan Smith A04 ITAI 2376 Deep Learning for an 11 year old</a:t>
            </a: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ai_applications"/>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635"/>
            <a:ext cx="9143365" cy="6857365"/>
          </a:xfrm>
          <a:prstGeom prst="rect">
            <a:avLst/>
          </a:prstGeom>
        </p:spPr>
      </p:pic>
      <p:sp>
        <p:nvSpPr>
          <p:cNvPr id="6" name="Footer Placeholder 5"/>
          <p:cNvSpPr>
            <a:spLocks noGrp="1"/>
          </p:cNvSpPr>
          <p:nvPr>
            <p:ph type="ftr" sz="quarter" idx="11"/>
          </p:nvPr>
        </p:nvSpPr>
        <p:spPr/>
        <p:txBody>
          <a:bodyPr/>
          <a:p>
            <a:r>
              <a:rPr lang="en-US"/>
              <a:t>Jonathan Smith A04 ITAI 2376 Deep Learning for an 11 year old</a:t>
            </a: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p:txBody>
          <a:bodyPr>
            <a:normAutofit fontScale="70000"/>
          </a:bodyPr>
          <a:p>
            <a:r>
              <a:rPr>
                <a:sym typeface="+mn-ea"/>
              </a:rPr>
              <a:t>This is how computers learn to:</a:t>
            </a:r>
            <a:endParaRPr>
              <a:sym typeface="+mn-ea"/>
            </a:endParaRPr>
          </a:p>
          <a:p>
            <a:r>
              <a:rPr>
                <a:sym typeface="+mn-ea"/>
              </a:rPr>
              <a:t>- Recognize your face to unlock your phone.</a:t>
            </a:r>
            <a:endParaRPr>
              <a:sym typeface="+mn-ea"/>
            </a:endParaRPr>
          </a:p>
          <a:p>
            <a:r>
              <a:rPr>
                <a:sym typeface="+mn-ea"/>
              </a:rPr>
              <a:t>- Understand what you say to Siri or Alexa.</a:t>
            </a:r>
            <a:endParaRPr>
              <a:sym typeface="+mn-ea"/>
            </a:endParaRPr>
          </a:p>
          <a:p>
            <a:r>
              <a:rPr>
                <a:sym typeface="+mn-ea"/>
              </a:rPr>
              <a:t>- Drive self-driving cars (by guessing 'Is that a stop sign?').</a:t>
            </a:r>
            <a:endParaRPr>
              <a:sym typeface="+mn-ea"/>
            </a:endParaRPr>
          </a:p>
          <a:p>
            <a:r>
              <a:rPr>
                <a:sym typeface="+mn-ea"/>
              </a:rPr>
              <a:t>- Help doctors find diseases in X-rays.</a:t>
            </a:r>
            <a:endParaRPr>
              <a:sym typeface="+mn-ea"/>
            </a:endParaRPr>
          </a:p>
          <a:p>
            <a:endParaRPr lang="en-US"/>
          </a:p>
          <a:p>
            <a:r>
              <a:rPr>
                <a:sym typeface="+mn-ea"/>
              </a:rPr>
              <a:t>This one simple idea powers almost all the cool AI we see today. From your photo apps to the most advanced science, it's all just a really big 'Whisper Team' learning from its mistak</a:t>
            </a:r>
            <a:endParaRPr lang="en-US"/>
          </a:p>
        </p:txBody>
      </p:sp>
      <p:sp>
        <p:nvSpPr>
          <p:cNvPr id="5" name="Footer Placeholder 4"/>
          <p:cNvSpPr>
            <a:spLocks noGrp="1"/>
          </p:cNvSpPr>
          <p:nvPr>
            <p:ph type="ftr" sz="quarter" idx="11"/>
          </p:nvPr>
        </p:nvSpPr>
        <p:spPr/>
        <p:txBody>
          <a:bodyPr/>
          <a:p>
            <a:r>
              <a:rPr lang="en-US"/>
              <a:t>Jonathan Smith A04 ITAI 2376 Deep Learning for an 11 year old</a:t>
            </a: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p:txBody>
          <a:bodyPr/>
          <a:p>
            <a:r>
              <a:rPr>
                <a:sym typeface="+mn-ea"/>
              </a:rPr>
              <a:t>You now understand one of the most important ideas in all of Artificial Intelligence!</a:t>
            </a:r>
            <a:endParaRPr>
              <a:sym typeface="+mn-ea"/>
            </a:endParaRPr>
          </a:p>
          <a:p>
            <a:r>
              <a:rPr>
                <a:sym typeface="+mn-ea"/>
              </a:rPr>
              <a:t>So, give yourselves a hand! You just learned a college-level computer science concept. The next time you see a computer do something smart, you know the secret: it's just guessed, messed up, and fixed its mistake millions of time. Any questions?</a:t>
            </a:r>
            <a:endParaRPr>
              <a:sym typeface="+mn-ea"/>
            </a:endParaRPr>
          </a:p>
          <a:p>
            <a:endParaRPr lang="en-US"/>
          </a:p>
        </p:txBody>
      </p:sp>
      <p:sp>
        <p:nvSpPr>
          <p:cNvPr id="5" name="Footer Placeholder 4"/>
          <p:cNvSpPr>
            <a:spLocks noGrp="1"/>
          </p:cNvSpPr>
          <p:nvPr>
            <p:ph type="ftr" sz="quarter" idx="11"/>
          </p:nvPr>
        </p:nvSpPr>
        <p:spPr/>
        <p:txBody>
          <a:bodyPr/>
          <a:p>
            <a:r>
              <a:rPr lang="en-US"/>
              <a:t>Jonathan Smith A04 ITAI 2376 Deep Learning for an 11 year old</a:t>
            </a:r>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Works Cited</a:t>
            </a:r>
            <a:endParaRPr lang="en-US"/>
          </a:p>
        </p:txBody>
      </p:sp>
      <p:sp>
        <p:nvSpPr>
          <p:cNvPr id="3" name="Content Placeholder 2"/>
          <p:cNvSpPr>
            <a:spLocks noGrp="1"/>
          </p:cNvSpPr>
          <p:nvPr>
            <p:ph idx="1"/>
          </p:nvPr>
        </p:nvSpPr>
        <p:spPr>
          <a:xfrm>
            <a:off x="329565" y="1473200"/>
            <a:ext cx="7950200" cy="1955800"/>
          </a:xfrm>
        </p:spPr>
        <p:txBody>
          <a:bodyPr/>
          <a:p>
            <a:r>
              <a:rPr lang="en-US" altLang="en-US" sz="2000"/>
              <a:t>Brownlee, Jason. "A Gentle Introduction to Backpropagation for Beginners." Machine Learning Mastery, 11 Aug. 2019, https://www.google.com/search?q=machinelearningmastery.com/a-gentle-introduction-to-backpropagation-for-beginners/.</a:t>
            </a:r>
            <a:endParaRPr lang="en-US" altLang="en-US" sz="2000"/>
          </a:p>
          <a:p>
            <a:endParaRPr lang="en-US" altLang="en-US" sz="2000"/>
          </a:p>
          <a:p>
            <a:r>
              <a:rPr lang="en-US" altLang="en-US" sz="2000"/>
              <a:t>Goodfellow, Ian, et al. Deep Learning. MIT Press, 2016.</a:t>
            </a:r>
            <a:endParaRPr lang="en-US" altLang="en-US" sz="2000"/>
          </a:p>
          <a:p>
            <a:endParaRPr lang="en-US" altLang="en-US" sz="2000"/>
          </a:p>
          <a:p>
            <a:r>
              <a:rPr lang="en-US" altLang="en-US" sz="2000"/>
              <a:t>Nielsen, Michael A. "How the Backpropagation Algorithm Works." Neural Networks and Deep Learning, Determination Press, 2019, neuralnetworksanddeeplearning.com/chap2.html.</a:t>
            </a:r>
            <a:endParaRPr lang="en-US" altLang="en-US" sz="2000"/>
          </a:p>
        </p:txBody>
      </p:sp>
      <p:sp>
        <p:nvSpPr>
          <p:cNvPr id="5" name="Footer Placeholder 4"/>
          <p:cNvSpPr>
            <a:spLocks noGrp="1"/>
          </p:cNvSpPr>
          <p:nvPr>
            <p:ph type="ftr" sz="quarter" idx="11"/>
          </p:nvPr>
        </p:nvSpPr>
        <p:spPr/>
        <p:txBody>
          <a:bodyPr/>
          <a:p>
            <a:r>
              <a:rPr lang="en-US"/>
              <a:t>Jonathan Smith A04 ITAI 2376 Deep Learning for an 11 year old</a:t>
            </a:r>
            <a:endParaRPr lang="en-US"/>
          </a:p>
        </p:txBody>
      </p:sp>
    </p:spTree>
  </p:cSld>
  <p:clrMapOvr>
    <a:masterClrMapping/>
  </p:clrMapOvr>
</p:sld>
</file>

<file path=ppt/theme/theme1.xml><?xml version="1.0" encoding="utf-8"?>
<a:theme xmlns:a="http://schemas.openxmlformats.org/drawingml/2006/main" name="Data Pie Charts">
  <a:themeElements>
    <a:clrScheme name="Data Pie Charts 13">
      <a:dk1>
        <a:srgbClr val="000000"/>
      </a:dk1>
      <a:lt1>
        <a:srgbClr val="FFFFFF"/>
      </a:lt1>
      <a:dk2>
        <a:srgbClr val="000000"/>
      </a:dk2>
      <a:lt2>
        <a:srgbClr val="969696"/>
      </a:lt2>
      <a:accent1>
        <a:srgbClr val="009900"/>
      </a:accent1>
      <a:accent2>
        <a:srgbClr val="99CC00"/>
      </a:accent2>
      <a:accent3>
        <a:srgbClr val="FFFFFF"/>
      </a:accent3>
      <a:accent4>
        <a:srgbClr val="000000"/>
      </a:accent4>
      <a:accent5>
        <a:srgbClr val="AACAAA"/>
      </a:accent5>
      <a:accent6>
        <a:srgbClr val="8AB900"/>
      </a:accent6>
      <a:hlink>
        <a:srgbClr val="CC3300"/>
      </a:hlink>
      <a:folHlink>
        <a:srgbClr val="996600"/>
      </a:folHlink>
    </a:clrScheme>
    <a:fontScheme name="Data Pie Chart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90204" pitchFamily="34" charset="0"/>
            <a:ea typeface="SimSun"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90204" pitchFamily="34" charset="0"/>
            <a:ea typeface="SimSun" pitchFamily="2" charset="-122"/>
          </a:defRPr>
        </a:defPPr>
      </a:lstStyle>
    </a:lnDef>
  </a:objectDefaults>
  <a:extraClrSchemeLst>
    <a:extraClrScheme>
      <a:clrScheme name="Data Pie Chart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ata Pie Chart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ata Pie Chart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ata Pie Chart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ata Pie Chart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ata Pie Chart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ata Pie Chart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ata Pie Chart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ata Pie Chart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ata Pie Chart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ata Pie Chart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ata Pie Chart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Data Pie Charts 13">
        <a:dk1>
          <a:srgbClr val="000000"/>
        </a:dk1>
        <a:lt1>
          <a:srgbClr val="FFFFFF"/>
        </a:lt1>
        <a:dk2>
          <a:srgbClr val="000000"/>
        </a:dk2>
        <a:lt2>
          <a:srgbClr val="969696"/>
        </a:lt2>
        <a:accent1>
          <a:srgbClr val="009900"/>
        </a:accent1>
        <a:accent2>
          <a:srgbClr val="99CC00"/>
        </a:accent2>
        <a:accent3>
          <a:srgbClr val="FFFFFF"/>
        </a:accent3>
        <a:accent4>
          <a:srgbClr val="000000"/>
        </a:accent4>
        <a:accent5>
          <a:srgbClr val="AACAAA"/>
        </a:accent5>
        <a:accent6>
          <a:srgbClr val="8AB900"/>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8257</Words>
  <Application>WPS Presentation</Application>
  <PresentationFormat>On-screen Show (4:3)</PresentationFormat>
  <Paragraphs>200</Paragraphs>
  <Slides>25</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25</vt:i4>
      </vt:variant>
    </vt:vector>
  </HeadingPairs>
  <TitlesOfParts>
    <vt:vector size="36" baseType="lpstr">
      <vt:lpstr>Arial</vt:lpstr>
      <vt:lpstr>SimSun</vt:lpstr>
      <vt:lpstr>Wingdings</vt:lpstr>
      <vt:lpstr>Arial</vt:lpstr>
      <vt:lpstr>Calibri</vt:lpstr>
      <vt:lpstr>Helvetica Neue</vt:lpstr>
      <vt:lpstr>Microsoft YaHei</vt:lpstr>
      <vt:lpstr>汉仪旗黑</vt:lpstr>
      <vt:lpstr>Arial Unicode MS</vt:lpstr>
      <vt:lpstr>汉仪书宋二KW</vt:lpstr>
      <vt:lpstr>Data Pie Charts</vt:lpstr>
      <vt:lpstr>“Backpropogation”</vt:lpstr>
      <vt:lpstr>The Digital Brain</vt:lpstr>
      <vt:lpstr>PowerPoint 演示文稿</vt:lpstr>
      <vt:lpstr>The Big Problem</vt:lpstr>
      <vt:lpstr>PowerPoint 演示文稿</vt:lpstr>
      <vt:lpstr>The Analogy: The Whisper Team!</vt:lpstr>
      <vt:lpstr>PowerPoint 演示文稿</vt:lpstr>
      <vt:lpstr>Step 1: The First Guess (It's... Bad)</vt:lpstr>
      <vt:lpstr>PowerPoint 演示文稿</vt:lpstr>
      <vt:lpstr>Step 2: The 'Oh No!' Moment</vt:lpstr>
      <vt:lpstr>PowerPoint 演示文稿</vt:lpstr>
      <vt:lpstr>Step 3: Pass the Blame... BACKWARD!</vt:lpstr>
      <vt:lpstr>PowerPoint 演示文稿</vt:lpstr>
      <vt:lpstr>Step 4: Making Tiny Fixes (Learning!)</vt:lpstr>
      <vt:lpstr>PowerPoint 演示文稿</vt:lpstr>
      <vt:lpstr>Step 5: Try, Try Again!</vt:lpstr>
      <vt:lpstr>PowerPoint 演示文稿</vt:lpstr>
      <vt:lpstr>So, What is Backpropagation?</vt:lpstr>
      <vt:lpstr>PowerPoint 演示文稿</vt:lpstr>
      <vt:lpstr>Why Is This So Cool?</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Jonathan Smith</cp:lastModifiedBy>
  <cp:revision>3</cp:revision>
  <dcterms:created xsi:type="dcterms:W3CDTF">2025-10-25T14:40:31Z</dcterms:created>
  <dcterms:modified xsi:type="dcterms:W3CDTF">2025-10-25T14:40:31Z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8002A29C0ECE49E75FE1FC684E8FC2D7_43</vt:lpwstr>
  </property>
  <property fmtid="{D5CDD505-2E9C-101B-9397-08002B2CF9AE}" pid="3" name="KSOProductBuildVer">
    <vt:lpwstr>1033-12.1.23143.23143</vt:lpwstr>
  </property>
</Properties>
</file>